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731520"/>
          <a:lstStyle/>
          <a:p>
            <a:pPr algn="ctr">
              <a:spcAft>
                <a:spcPts val="1400"/>
              </a:spcAft>
              <a:defRPr sz="1200" b="1">
                <a:solidFill>
                  <a:srgbClr val="0D9488"/>
                </a:solidFill>
                <a:latin typeface="Arial"/>
              </a:defRPr>
            </a:pPr>
            <a:r>
              <a:t>MACHINE LEARNING RESEARCH PROJECT</a:t>
            </a:r>
          </a:p>
          <a:p>
            <a:pPr>
              <a:spcAft>
                <a:spcPts val="2000"/>
              </a:spcAft>
              <a:defRPr sz="3200" b="1">
                <a:solidFill>
                  <a:srgbClr val="1E293B"/>
                </a:solidFill>
                <a:latin typeface="Georgia"/>
              </a:defRPr>
            </a:pPr>
            <a:r>
              <a:t>Synthetic Data-Assisted Road Damage Detection for Indian Roads</a:t>
            </a:r>
          </a:p>
          <a:p>
            <a:pPr>
              <a:spcAft>
                <a:spcPts val="3600"/>
              </a:spcAft>
              <a:defRPr sz="1500">
                <a:solidFill>
                  <a:srgbClr val="334155"/>
                </a:solidFill>
                <a:latin typeface="Arial"/>
              </a:defRPr>
            </a:pPr>
            <a:r>
              <a:t>A Deep Learning &amp; Computer Vision Investigation Using YOLO11n and Transfer Learning</a:t>
            </a:r>
          </a:p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Presented by: Team LossLess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0"/>
            <a:ext cx="88998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Team LossLess: Members &amp; Assigned Project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1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Team Lead &amp; 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46304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2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Dataset Collection &amp;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46304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3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Data Preprocessing &amp; Annotation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46304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4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Baseline YOLO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46304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5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Synthetic Data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6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Quality Control &amp;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37033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7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Model Training &amp; Experimentation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37033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8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Evaluation &amp; Statistical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37033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9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Prototype &amp; User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37033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Member 10</a:t>
            </a:r>
          </a:p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Documentation &amp;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Problem Statement &amp; Real-World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1. Practical Infrastructure Challenge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Road damage (potholes, cracks) causes frequent accidents, vehicle damage, and high maintenance costs across India.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Manual road inspection is labor-intensive, time-consuming, subjective, and difficult to scale regularly.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Automated computer vision detection offers a scalable solution for municipal road auditing.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2. Machine Learning Bottleneck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Model performance drops on unfamiliar Indian road surfaces, poor lighting, rain, and varied weather.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Public datasets suffer from severe class imbalance and lack representative examples of rare damage types.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Annotating thousands of real field images manually is expensive and unscalable.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12801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CORE RESEARCH QUESTION</a:t>
            </a:r>
          </a:p>
          <a:p>
            <a:pPr>
              <a:defRPr sz="1400" b="1">
                <a:solidFill>
                  <a:srgbClr val="1E293B"/>
                </a:solidFill>
                <a:latin typeface="Georgia"/>
              </a:defRPr>
            </a:pPr>
            <a:r>
              <a:t>“Can generating synthetic road-damage images and combining them with real Indian road images improve model accuracy and generalization under challenging real-world conditions?”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Proposed Solution &amp; Key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Proposed Solution</a:t>
            </a:r>
          </a:p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✔ Transfer Learning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Fine-tune pretrained YOLO models on real Indian road damage images.</a:t>
            </a:r>
          </a:p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✔ Label Standardization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Clean multi-national RDD2022 dataset into 4 core structural damage categories.</a:t>
            </a:r>
          </a:p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✔ Synthetic Augmentation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Incorporate synthetic damage patches (Poisson blending / GANs) to boost rare class representation.</a:t>
            </a:r>
          </a:p>
          <a:p>
            <a:pPr>
              <a:defRPr sz="1300" b="1">
                <a:solidFill>
                  <a:srgbClr val="0D9488"/>
                </a:solidFill>
                <a:latin typeface="Arial"/>
              </a:defRPr>
            </a:pPr>
            <a:r>
              <a:t>✔ Rigorous Evaluation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Test models against an independent held-out real test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463040"/>
            <a:ext cx="64309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Objective 1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Study existing road damage detection literature and synthetic data generation methods.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459736"/>
            <a:ext cx="64309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Objective 2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Collect and analyze Indian road damage images from the RDD2022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456432"/>
            <a:ext cx="64309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Objective 3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Develop a baseline YOLO11n object detection model using real road images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4453128"/>
            <a:ext cx="64309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Objective 4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Design a synthetic data compositing pipeline for underrepresented damage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5449824"/>
            <a:ext cx="643097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Objective 5</a:t>
            </a:r>
          </a:p>
          <a:p>
            <a:pPr>
              <a:defRPr sz="1100">
                <a:solidFill>
                  <a:srgbClr val="1E293B"/>
                </a:solidFill>
                <a:latin typeface="Arial"/>
              </a:defRPr>
            </a:pPr>
            <a:r>
              <a:t>Evaluate and compare models on a held-out real test dataset to measure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Primary Dataset Overview: RDD2022 (Indian Subset)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2800" b="1">
                <a:solidFill>
                  <a:srgbClr val="0D9488"/>
                </a:solidFill>
                <a:latin typeface="Georgia"/>
              </a:defRPr>
            </a:pPr>
            <a:r>
              <a:t>7,706</a:t>
            </a:r>
          </a:p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Training Images</a:t>
            </a:r>
          </a:p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Indian Road Subset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2800" b="1">
                <a:solidFill>
                  <a:srgbClr val="0D9488"/>
                </a:solidFill>
                <a:latin typeface="Georgia"/>
              </a:defRPr>
            </a:pPr>
            <a:r>
              <a:t>1,959</a:t>
            </a:r>
          </a:p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Test Images</a:t>
            </a:r>
          </a:p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Source Test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2800" b="1">
                <a:solidFill>
                  <a:srgbClr val="0D9488"/>
                </a:solidFill>
                <a:latin typeface="Georgia"/>
              </a:defRPr>
            </a:pPr>
            <a:r>
              <a:t>8,203</a:t>
            </a:r>
          </a:p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Original Objects</a:t>
            </a:r>
          </a:p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Pascal VOC XML Annotations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2800" b="1">
                <a:solidFill>
                  <a:srgbClr val="0D9488"/>
                </a:solidFill>
                <a:latin typeface="Georgia"/>
              </a:defRPr>
            </a:pPr>
            <a:r>
              <a:t>4</a:t>
            </a:r>
          </a:p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Target Classes</a:t>
            </a:r>
          </a:p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Longitudinal, Transverse, Alligator, Pothole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8655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Dataset Characteristics &amp; Annotation Structure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Source Dataset: Road Damage Dataset 2022 (RDD2022) — a multi-national dataset with 47,420 road images from 6 countries (India, Japan, China, Czech Republic, Norway, United States).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Focus Area: Our project focuses specifically on the Indian road subset (`images/train_images` with 7,706 images) to evaluate detection performance under real Indian traffic and surface conditions.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Original Annotations: Provided in Pascal VOC XML format containing image filenames, bounding box coordinates (`xmin`, `ymin`, `xmax`, `ymax`), and damage class labels.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 Challenge Identified: Raw XML annotations contain non-structural codes (e.g., crosswalks, manholes) and fine sub-categories that require systematic cleaning.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Data Cleaning &amp; Bounding Box Standardization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Zero Data Loss Cleaning Strategy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7,706 Annotation Files Retained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100% of training image files were preserved. No image file was deleted during cleaning.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Object Reduction (8,203 → 7,056)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Removed 1,147 unwanted-class bounding boxes (57 D43 crosswalk blur, 1,062 D44 extraneous, 28 D50 manholes) to focus exclusively on 4 structural damage classes.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Empty Files Increase (3,921 → 4,387)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Images containing only excluded boxes became valid negative background samples, helping reduce false positive detections.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Annotation Typo Correction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Visually verified and corrected single typo `D0w0` → `D00` (Longitudinal crack) preserving original bounding box coordinates.</a:t>
            </a:r>
          </a:p>
        </p:txBody>
      </p:sp>
      <p:pic>
        <p:nvPicPr>
          <p:cNvPr id="6" name="Picture 5" descr="data_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425135" cy="2893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End-to-End Machine Learning Pipeline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23603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56616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E293B"/>
                </a:solidFill>
                <a:latin typeface="Georgia"/>
              </a:defRPr>
            </a:pPr>
            <a:r>
              <a:t>Data Preparation Phase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Image Collection: 7,706 India RDD2022 images.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Annotation Inspection: Parsed XML files.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Cleaning: Merged D01→D00, D11→D10; dropped D43, D44, D50.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6616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E293B"/>
                </a:solidFill>
                <a:latin typeface="Georgia"/>
              </a:defRPr>
            </a:pPr>
            <a:r>
              <a:t>Formatting &amp; Validation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XML-to-YOLO Conversion: Converted coordinates to normalized [0,1] format.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Validation: Checked bounds &amp; line formats.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Data Splitting: 75% Train (5,779), 10% Val (770), 15% Test (1,157).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566160"/>
            <a:ext cx="3413455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E293B"/>
                </a:solidFill>
                <a:latin typeface="Georgia"/>
              </a:defRPr>
            </a:pPr>
            <a:r>
              <a:t>Training &amp; Evaluation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YOLO11n Model: Fine-tuned pretrained weights on MPS GPU.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Training: 30 epochs, AdamW optimizer.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Evaluation: Validation metrics established; fixed test set held 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Software Environment &amp; 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Python 3.13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Core programming language for pipeline scripting, data cleaning, and model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PyTorch 2.14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Deep learning framework providing tensor computations and GPU acceleration (Apple MPS).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Ultralytics YOLO 8.4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Object detection framework used for loading `yolo11n.pt` pretrained weights and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679192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OpenCV (cv2)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Computer vision library used for reading images, drawing bounding boxes, and image compositing.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95344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Pandas &amp; NumPy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Data analysis libraries used for manifest generation, array manipulation, and class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895344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Matplotlib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Visualization library used to plot bounding boxes, sample annotations, and result 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11496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Pathlib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Standard library used for robust filesystem path management across training directories.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5111496"/>
            <a:ext cx="5212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0D9488"/>
                </a:solidFill>
                <a:latin typeface="Georgia"/>
              </a:defRPr>
            </a:pPr>
            <a:r>
              <a:t>xml.etree.ElementTree</a:t>
            </a:r>
          </a:p>
          <a:p>
            <a:pPr>
              <a:defRPr sz="1050">
                <a:solidFill>
                  <a:srgbClr val="334155"/>
                </a:solidFill>
                <a:latin typeface="Arial"/>
              </a:defRPr>
            </a:pPr>
            <a:r>
              <a:t>XML parser used to inspect, filter, modify, and convert Pascal VOC annotation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Four Target Damage Categories &amp;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Target Class Consolidation Mapping</a:t>
            </a:r>
          </a:p>
          <a:p>
            <a:pPr>
              <a:defRPr sz="1150" b="1">
                <a:solidFill>
                  <a:srgbClr val="0D9488"/>
                </a:solidFill>
                <a:latin typeface="Arial"/>
              </a:defRPr>
            </a:pPr>
            <a:r>
              <a:t>Class 0: Longitudinal Crack (D00)  —  1,735 Objects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Merged raw codes D00 + D01 + corrected D0w0. Cracks running parallel to road.</a:t>
            </a:r>
          </a:p>
          <a:p>
            <a:pPr>
              <a:defRPr sz="1150" b="1">
                <a:solidFill>
                  <a:srgbClr val="0D9488"/>
                </a:solidFill>
                <a:latin typeface="Arial"/>
              </a:defRPr>
            </a:pPr>
            <a:r>
              <a:t>Class 1: Transverse Crack (D10)  —  113 Objects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Merged raw codes D10 + D11. Cracks running across the road width.</a:t>
            </a:r>
          </a:p>
          <a:p>
            <a:pPr>
              <a:defRPr sz="1150" b="1">
                <a:solidFill>
                  <a:srgbClr val="0D9488"/>
                </a:solidFill>
                <a:latin typeface="Arial"/>
              </a:defRPr>
            </a:pPr>
            <a:r>
              <a:t>Class 2: Alligator Crack (D20)  —  2,021 Objects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Network of interconnected fatigue cracks forming mesh-like patterns.</a:t>
            </a:r>
          </a:p>
          <a:p>
            <a:pPr>
              <a:defRPr sz="1150" b="1">
                <a:solidFill>
                  <a:srgbClr val="0D9488"/>
                </a:solidFill>
                <a:latin typeface="Arial"/>
              </a:defRPr>
            </a:pPr>
            <a:r>
              <a:t>Class 3: Pothole (D40)  —  3,187 Objects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Depressions or cavities in road surface; most frequent damage type.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33695" cy="275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YOLO11n Architecture &amp; Training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Model Architecture &amp; Pretraining</a:t>
            </a:r>
          </a:p>
          <a:p>
            <a:pPr>
              <a:spcAft>
                <a:spcPts val="1000"/>
              </a:spcAft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Model Selection: </a:t>
            </a:r>
            <a:r>
              <a:rPr b="0">
                <a:solidFill>
                  <a:srgbClr val="334155"/>
                </a:solidFill>
              </a:rPr>
              <a:t>Lightweight `yolo11n.pt` pretrained weights fine-tuned on Indian road dataset.</a:t>
            </a:r>
          </a:p>
          <a:p>
            <a:pPr>
              <a:spcAft>
                <a:spcPts val="1000"/>
              </a:spcAft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Model Capacity: </a:t>
            </a:r>
            <a:r>
              <a:rPr b="0">
                <a:solidFill>
                  <a:srgbClr val="334155"/>
                </a:solidFill>
              </a:rPr>
              <a:t>2,597,780 parameters | 6.4 GFLOPs (101 fused layers).</a:t>
            </a:r>
          </a:p>
          <a:p>
            <a:pPr>
              <a:spcAft>
                <a:spcPts val="1000"/>
              </a:spcAft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Hyperparameters: </a:t>
            </a:r>
            <a:r>
              <a:rPr b="0">
                <a:solidFill>
                  <a:srgbClr val="334155"/>
                </a:solidFill>
              </a:rPr>
              <a:t>Image Size: 512×512 | Batch Size: 16 | Epochs: 30 (Patience = 7 early stopping).</a:t>
            </a:r>
          </a:p>
          <a:p>
            <a:pPr>
              <a:spcAft>
                <a:spcPts val="1000"/>
              </a:spcAft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Optimizer &amp; LR: </a:t>
            </a:r>
            <a:r>
              <a:rPr b="0">
                <a:solidFill>
                  <a:srgbClr val="334155"/>
                </a:solidFill>
              </a:rPr>
              <a:t>AdamW (lr = 0.00125, momentum = 0.9).</a:t>
            </a:r>
          </a:p>
          <a:p>
            <a:pPr>
              <a:spcAft>
                <a:spcPts val="1000"/>
              </a:spcAft>
              <a:defRPr sz="1150" b="1">
                <a:solidFill>
                  <a:srgbClr val="1E293B"/>
                </a:solidFill>
                <a:latin typeface="Arial"/>
              </a:defRPr>
            </a:pPr>
            <a:r>
              <a:t>• Hardware Acceleration: </a:t>
            </a:r>
            <a:r>
              <a:rPr b="0">
                <a:solidFill>
                  <a:srgbClr val="334155"/>
                </a:solidFill>
              </a:rPr>
              <a:t>Apple MPS GPU (Metal Performance Shaders on M4 chip).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Reproducible Dataset Split (Seed = 42)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Training Partition (75%)  —  5,779 Images</a:t>
            </a:r>
          </a:p>
          <a:p>
            <a:pPr>
              <a:spcAft>
                <a:spcPts val="12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Used to fine-tune YOLO11n weights during 30 epochs.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Validation Partition (10%)  —  770 Images</a:t>
            </a:r>
          </a:p>
          <a:p>
            <a:pPr>
              <a:spcAft>
                <a:spcPts val="12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Used for hyperparameter monitoring and early stopping.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✔ Fixed Test Partition (15%)  —  1,157 Images</a:t>
            </a:r>
          </a:p>
          <a:p>
            <a:pPr>
              <a:spcAft>
                <a:spcPts val="12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Held out completely. Never used in training, tuning, or synthetic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Baseline Validation Performance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5486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NOTE: Results below represent Baseline Validation Set performance (770 images), NOT final held-out test results.</a:t>
            </a:r>
          </a:p>
        </p:txBody>
      </p:sp>
      <p:pic>
        <p:nvPicPr>
          <p:cNvPr id="6" name="Picture 5" descr="baselin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212080" cy="26901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48095" y="2011680"/>
            <a:ext cx="52120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1E293B"/>
                </a:solidFill>
                <a:latin typeface="Georgia"/>
              </a:defRPr>
            </a:pPr>
            <a:r>
              <a:t>Per-Class Baseline Metrics Summary</a:t>
            </a:r>
          </a:p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Overall (All 4 Classes)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P: 43.3% | R: 37.3% | mAP50: 31.9% | mAP50-95: 13.6%</a:t>
            </a:r>
          </a:p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Alligator Crack (D20)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P: 42.8% | R: 67.4% | mAP50: 57.8% (Best overall class)</a:t>
            </a:r>
          </a:p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Pothole (D40)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P: 34.3% | R: 47.8% | mAP50: 37.8% (Moderate performance)</a:t>
            </a:r>
          </a:p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Longitudinal Crack (D00)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P: 38.4% | R: 19.8% | mAP50: 19.2% (Low recall)</a:t>
            </a:r>
          </a:p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Transverse Crack (D10)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Arial"/>
              </a:defRPr>
            </a:pPr>
            <a:r>
              <a:t>P: 57.8% | R: 14.3% | mAP50: 13.0% (Severe class scarcity)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Key Learnings, Limitations &amp; Proposed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Key Findings &amp; Project Limitations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Class Imbalance Effect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Extreme scarcity in Transverse cracks (113 instances vs 3,187 potholes) directly caps overall mAP.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Background Clutter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Indian urban roads feature shadows, debris, and varied pavement, leading to false detections.</a:t>
            </a:r>
          </a:p>
          <a:p>
            <a:pPr>
              <a:defRPr sz="1200" b="1">
                <a:solidFill>
                  <a:srgbClr val="1E293B"/>
                </a:solidFill>
                <a:latin typeface="Arial"/>
              </a:defRPr>
            </a:pPr>
            <a:r>
              <a:t>• Annotation Quality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Model performance relies strictly on precise bounding box boundaries; misaligned boxes degrade recall.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Proposed Experiments (Planned / Future Work)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⚡ Status Notice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Synthetic data augmentation is a proposed future experiment, NOT a completed result.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⚡ Compositing Method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Extract real damage patches (potholes/cracks) and blend onto background roads using OpenCV Poisson blending.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⚡ Experimental Setup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Train Model B (Real + Synthetic) and compare against Baseline Model A on the 1,157 held-out real test set.</a:t>
            </a:r>
          </a:p>
          <a:p>
            <a:pPr>
              <a:defRPr sz="1200" b="1">
                <a:solidFill>
                  <a:srgbClr val="0D9488"/>
                </a:solidFill>
                <a:latin typeface="Arial"/>
              </a:defRPr>
            </a:pPr>
            <a:r>
              <a:t>⚡ Core Hypothesis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t>Targeted synthetic augmentation of rare classes will improve recall and model generalization without field data collection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Arial"/>
              </a:defRPr>
            </a:pPr>
            <a:r>
              <a:t>MACHINE LEARNING PROJECT • TEAM LOSSLESS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t>Project 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Key Project Summary</a:t>
            </a:r>
          </a:p>
          <a:p>
            <a:pPr>
              <a:spcAft>
                <a:spcPts val="6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✔  Established a clean, standardized 4-class Indian road damage dataset (7,706 training images) from raw RDD2022 multi-national annotations.</a:t>
            </a:r>
          </a:p>
          <a:p>
            <a:pPr>
              <a:spcAft>
                <a:spcPts val="6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✔  Built a zero-data-loss cleaning pipeline that removed 1,147 non-structural bounding boxes while preserving 4,387 background images.</a:t>
            </a:r>
          </a:p>
          <a:p>
            <a:pPr>
              <a:spcAft>
                <a:spcPts val="6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✔  Successfully trained a baseline YOLO11n object detection model, establishing initial baseline validation benchmarks (31.9% mAP@50).</a:t>
            </a:r>
          </a:p>
          <a:p>
            <a:pPr>
              <a:spcAft>
                <a:spcPts val="600"/>
              </a:spcAft>
              <a:defRPr sz="1150">
                <a:solidFill>
                  <a:srgbClr val="334155"/>
                </a:solidFill>
                <a:latin typeface="Arial"/>
              </a:defRPr>
            </a:pPr>
            <a:r>
              <a:t>✔  Laid the technical foundation for condition-aware synthetic data augmentation experiments to tackle severe class imbalance.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spcAft>
                <a:spcPts val="800"/>
              </a:spcAft>
              <a:defRPr sz="2800" b="1">
                <a:solidFill>
                  <a:srgbClr val="0D9488"/>
                </a:solidFill>
                <a:latin typeface="Georgia"/>
              </a:defRPr>
            </a:pPr>
            <a:r>
              <a:t>Thank You!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t>Questions, Feedback &amp; Technical Discussion</a:t>
            </a:r>
          </a:p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Machine Learning Research Project • Team LossLess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